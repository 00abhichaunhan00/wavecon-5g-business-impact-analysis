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025600101f4d90" /><Relationship Type="http://schemas.openxmlformats.org/officeDocument/2006/relationships/extended-properties" Target="/docProps/app.xml" Id="R3be23e0e75aa4c90" /><Relationship Type="http://schemas.openxmlformats.org/officeDocument/2006/relationships/officeDocument" Target="/ppt/presentation.xml" Id="R6256d4cbcfe840f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e6cc8ccd3464298"/>
  </p:sldMasterIdLst>
  <p:notesMasterIdLst>
    <p:notesMasterId xmlns:r="http://schemas.openxmlformats.org/officeDocument/2006/relationships" r:id="R15d34731fd7e4fc4"/>
  </p:notesMasterIdLst>
  <p:sldIdLst>
    <p:sldId xmlns:r="http://schemas.openxmlformats.org/officeDocument/2006/relationships" id="256" r:id="Ra42b6cb2ba6c4c9b"/>
    <p:sldId xmlns:r="http://schemas.openxmlformats.org/officeDocument/2006/relationships" id="257" r:id="R58def0f513bf4dc0"/>
    <p:sldId xmlns:r="http://schemas.openxmlformats.org/officeDocument/2006/relationships" id="258" r:id="Rfd6e7cbcda334cbe"/>
    <p:sldId xmlns:r="http://schemas.openxmlformats.org/officeDocument/2006/relationships" id="259" r:id="Rdf7dc4605fe746ee"/>
    <p:sldId xmlns:r="http://schemas.openxmlformats.org/officeDocument/2006/relationships" id="260" r:id="R8210686c570341cb"/>
    <p:sldId xmlns:r="http://schemas.openxmlformats.org/officeDocument/2006/relationships" id="261" r:id="Rd2827c425075451a"/>
    <p:sldId xmlns:r="http://schemas.openxmlformats.org/officeDocument/2006/relationships" id="262" r:id="R50507e9687c94d1f"/>
    <p:sldId xmlns:r="http://schemas.openxmlformats.org/officeDocument/2006/relationships" id="263" r:id="Rb70535f0a3194ca0"/>
    <p:sldId xmlns:r="http://schemas.openxmlformats.org/officeDocument/2006/relationships" id="264" r:id="R9a53dfe81e224594"/>
  </p:sldIdLst>
  <p:sldSz cx="12191695" cy="6858000"/>
  <p:notesSz cx="6858000" cy="9144000"/>
  <p:embeddedFontLst>
    <p:embeddedFont>
      <p:font typeface="Geist Bold"/>
      <p:regular xmlns:r="http://schemas.openxmlformats.org/officeDocument/2006/relationships" r:id="R46e812dd07d640ac"/>
    </p:embeddedFont>
    <p:embeddedFont>
      <p:font typeface="Geist Black"/>
      <p:regular xmlns:r="http://schemas.openxmlformats.org/officeDocument/2006/relationships" r:id="R8e27f8ee48f0408a"/>
    </p:embeddedFont>
    <p:embeddedFont>
      <p:font typeface="Geist"/>
      <p:regular xmlns:r="http://schemas.openxmlformats.org/officeDocument/2006/relationships" r:id="Ra53dc3182b8d40f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3944c25e0642e6" /><Relationship Type="http://schemas.openxmlformats.org/officeDocument/2006/relationships/slideMaster" Target="/ppt/slideMasters/slideMaster1.xml" Id="Rae6cc8ccd3464298" /><Relationship Type="http://schemas.openxmlformats.org/officeDocument/2006/relationships/notesMaster" Target="/ppt/notesMasters/notesMaster1.xml" Id="R15d34731fd7e4fc4" /><Relationship Type="http://schemas.openxmlformats.org/officeDocument/2006/relationships/presProps" Target="/ppt/presProps.xml" Id="Rab5192fab4284d71" /><Relationship Type="http://schemas.openxmlformats.org/officeDocument/2006/relationships/viewProps" Target="/ppt/viewProps.xml" Id="R2c368ae5769d47c9" /><Relationship Type="http://schemas.openxmlformats.org/officeDocument/2006/relationships/tableStyles" Target="/ppt/tableStyles.xml" Id="Rc6d6e09a791f47c2" /><Relationship Type="http://schemas.openxmlformats.org/officeDocument/2006/relationships/font" Target="/ppt/fonts/font.dat" Id="R46e812dd07d640ac" /><Relationship Type="http://schemas.openxmlformats.org/officeDocument/2006/relationships/font" Target="/ppt/fonts/font2.dat" Id="R8e27f8ee48f0408a" /><Relationship Type="http://schemas.openxmlformats.org/officeDocument/2006/relationships/font" Target="/ppt/fonts/font3.dat" Id="Ra53dc3182b8d40fe" /><Relationship Type="http://schemas.openxmlformats.org/officeDocument/2006/relationships/slide" Target="/ppt/slides/slide1.xml" Id="Ra42b6cb2ba6c4c9b" /><Relationship Type="http://schemas.openxmlformats.org/officeDocument/2006/relationships/slide" Target="/ppt/slides/slide2.xml" Id="R58def0f513bf4dc0" /><Relationship Type="http://schemas.openxmlformats.org/officeDocument/2006/relationships/slide" Target="/ppt/slides/slide3.xml" Id="Rfd6e7cbcda334cbe" /><Relationship Type="http://schemas.openxmlformats.org/officeDocument/2006/relationships/slide" Target="/ppt/slides/slide4.xml" Id="Rdf7dc4605fe746ee" /><Relationship Type="http://schemas.openxmlformats.org/officeDocument/2006/relationships/slide" Target="/ppt/slides/slide5.xml" Id="R8210686c570341cb" /><Relationship Type="http://schemas.openxmlformats.org/officeDocument/2006/relationships/slide" Target="/ppt/slides/slide6.xml" Id="Rd2827c425075451a" /><Relationship Type="http://schemas.openxmlformats.org/officeDocument/2006/relationships/slide" Target="/ppt/slides/slide7.xml" Id="R50507e9687c94d1f" /><Relationship Type="http://schemas.openxmlformats.org/officeDocument/2006/relationships/slide" Target="/ppt/slides/slide8.xml" Id="Rb70535f0a3194ca0" /><Relationship Type="http://schemas.openxmlformats.org/officeDocument/2006/relationships/slide" Target="/ppt/slides/slide9.xml" Id="R9a53dfe81e2245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5316bef5848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4610cb612e4254" /><Relationship Type="http://schemas.openxmlformats.org/officeDocument/2006/relationships/notesMaster" Target="/ppt/notesMasters/notesMaster1.xml" Id="R2dfebd8b0d314d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164d8de52d4000" /><Relationship Type="http://schemas.openxmlformats.org/officeDocument/2006/relationships/notesMaster" Target="/ppt/notesMasters/notesMaster1.xml" Id="Rcf35b79e90154e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9c1ba1d28247fb" /><Relationship Type="http://schemas.openxmlformats.org/officeDocument/2006/relationships/notesMaster" Target="/ppt/notesMasters/notesMaster1.xml" Id="R0c1d8164ab7947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59aa39df114e6d" /><Relationship Type="http://schemas.openxmlformats.org/officeDocument/2006/relationships/notesMaster" Target="/ppt/notesMasters/notesMaster1.xml" Id="Red7d1e22a51f4a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e65156196b4f33" /><Relationship Type="http://schemas.openxmlformats.org/officeDocument/2006/relationships/notesMaster" Target="/ppt/notesMasters/notesMaster1.xml" Id="R28d321ff9d3e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a0d662e2954612" /><Relationship Type="http://schemas.openxmlformats.org/officeDocument/2006/relationships/notesMaster" Target="/ppt/notesMasters/notesMaster1.xml" Id="Rf2c6b7119f5749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ad8175702c425f" /><Relationship Type="http://schemas.openxmlformats.org/officeDocument/2006/relationships/notesMaster" Target="/ppt/notesMasters/notesMaster1.xml" Id="R6f74e1dce56b4f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c0c171554240cb" /><Relationship Type="http://schemas.openxmlformats.org/officeDocument/2006/relationships/notesMaster" Target="/ppt/notesMasters/notesMaster1.xml" Id="Rf7ffcd4c392742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631bbf715b443d" /><Relationship Type="http://schemas.openxmlformats.org/officeDocument/2006/relationships/notesMaster" Target="/ppt/notesMasters/notesMaster1.xml" Id="R2ffc1852c0e2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9fb35311746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fdeabea084991" /><Relationship Type="http://schemas.openxmlformats.org/officeDocument/2006/relationships/image" Target="/ppt/media/image.jpeg" Id="Red21fd5a49a24b86" /><Relationship Type="http://schemas.openxmlformats.org/officeDocument/2006/relationships/image" Target="/ppt/media/image.png" Id="R21bead3455a74ab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lide master 1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1fd5a49a24b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9C992DA-E7DB-41F8-BDD0-8C73FB2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0">
              <a:alpha val="95000"/>
            </a:srgbClr>
          </a:solidFill>
        </p:spPr>
      </p:sp>
      <p:pic>
        <p:nvPicPr>
          <p:cNvPr id="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ead3455a74a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76875" y="6558991"/>
            <a:ext cx="1071843" cy="25603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499156713041cf" /><Relationship Type="http://schemas.openxmlformats.org/officeDocument/2006/relationships/slideLayout" Target="/ppt/slideLayouts/slideLayout1.xml" Id="R6c1394690d304d84" /><Relationship Type="http://schemas.openxmlformats.org/officeDocument/2006/relationships/slideLayout" Target="/ppt/slideLayouts/slideLayout2.xml" Id="Reed7b9635233476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1394690d304d84"/>
    <p:sldLayoutId xmlns:r="http://schemas.openxmlformats.org/officeDocument/2006/relationships" id="2147483650" r:id="Reed7b9635233476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bfadcc91764861" /><Relationship Type="http://schemas.openxmlformats.org/officeDocument/2006/relationships/image" Target="/ppt/media/image2.jpeg" Id="R874ae6033e664ce3" /><Relationship Type="http://schemas.openxmlformats.org/officeDocument/2006/relationships/image" Target="/ppt/media/image2.png" Id="R045d85695e764b48" /><Relationship Type="http://schemas.openxmlformats.org/officeDocument/2006/relationships/notesSlide" Target="/ppt/notesSlides/notesSlide1.xml" Id="Re018011191a94c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02350660894f54" /><Relationship Type="http://schemas.openxmlformats.org/officeDocument/2006/relationships/notesSlide" Target="/ppt/notesSlides/notesSlide2.xml" Id="R02886a2f7c354c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39091fbc304ade" /><Relationship Type="http://schemas.openxmlformats.org/officeDocument/2006/relationships/image" Target="/ppt/media/image3.png" Id="R72488fe1043f48e9" /><Relationship Type="http://schemas.openxmlformats.org/officeDocument/2006/relationships/image" Target="/ppt/media/image4.png" Id="R3bb2d61622f24eca" /><Relationship Type="http://schemas.openxmlformats.org/officeDocument/2006/relationships/notesSlide" Target="/ppt/notesSlides/notesSlide3.xml" Id="Ra455dd08f50243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a6c381ff144efd" /><Relationship Type="http://schemas.openxmlformats.org/officeDocument/2006/relationships/notesSlide" Target="/ppt/notesSlides/notesSlide4.xml" Id="R3c34d54aa0ad4c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27686495b64677" /><Relationship Type="http://schemas.openxmlformats.org/officeDocument/2006/relationships/image" Target="/ppt/media/image5.png" Id="R1ca6ba9c4088407b" /><Relationship Type="http://schemas.openxmlformats.org/officeDocument/2006/relationships/image" Target="/ppt/media/image.svg" Id="Rff96b2e72a514231" /><Relationship Type="http://schemas.openxmlformats.org/officeDocument/2006/relationships/image" Target="/ppt/media/image.jpeg" Id="R50e9cbab20eb4d19" /><Relationship Type="http://schemas.openxmlformats.org/officeDocument/2006/relationships/image" Target="/ppt/media/image6.png" Id="R10229469269042c7" /><Relationship Type="http://schemas.openxmlformats.org/officeDocument/2006/relationships/image" Target="/ppt/media/image2.svg" Id="R240a72c4190f4678" /><Relationship Type="http://schemas.openxmlformats.org/officeDocument/2006/relationships/image" Target="/ppt/media/image2.jpeg" Id="Rac4bbb04cc2e4a95" /><Relationship Type="http://schemas.openxmlformats.org/officeDocument/2006/relationships/image" Target="/ppt/media/image7.png" Id="R610adf1c383f4876" /><Relationship Type="http://schemas.openxmlformats.org/officeDocument/2006/relationships/notesSlide" Target="/ppt/notesSlides/notesSlide5.xml" Id="R503a16ac47314a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f6420b942742aa" /><Relationship Type="http://schemas.openxmlformats.org/officeDocument/2006/relationships/image" Target="/ppt/media/image8.png" Id="R837b8fb348104340" /><Relationship Type="http://schemas.openxmlformats.org/officeDocument/2006/relationships/image" Target="/ppt/media/image9.png" Id="R2eaf1be81f66440f" /><Relationship Type="http://schemas.openxmlformats.org/officeDocument/2006/relationships/notesSlide" Target="/ppt/notesSlides/notesSlide6.xml" Id="Rb00af636fd4244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b11c3d5c81478c" /><Relationship Type="http://schemas.openxmlformats.org/officeDocument/2006/relationships/notesSlide" Target="/ppt/notesSlides/notesSlide7.xml" Id="Rec1f6990c48045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2e012c133d4222" /><Relationship Type="http://schemas.openxmlformats.org/officeDocument/2006/relationships/image" Target="/ppt/media/image3.svg" Id="Ra11f2b2fef9f4f6c" /><Relationship Type="http://schemas.openxmlformats.org/officeDocument/2006/relationships/image" Target="/ppt/media/image3.png" Id="R99a1d02c61ad468d" /><Relationship Type="http://schemas.openxmlformats.org/officeDocument/2006/relationships/image" Target="/ppt/media/image4.svg" Id="Rbac5812c46894154" /><Relationship Type="http://schemas.openxmlformats.org/officeDocument/2006/relationships/image" Target="/ppt/media/image4.png" Id="R32ea546e8e6e43b5" /><Relationship Type="http://schemas.openxmlformats.org/officeDocument/2006/relationships/image" Target="/ppt/media/image5.svg" Id="R09e86aafeba3447f" /><Relationship Type="http://schemas.openxmlformats.org/officeDocument/2006/relationships/image" Target="/ppt/media/image5.png" Id="Rb43edd938dfe4538" /><Relationship Type="http://schemas.openxmlformats.org/officeDocument/2006/relationships/image" Target="/ppt/media/image10.png" Id="Ra1bf2a13612d4d92" /><Relationship Type="http://schemas.openxmlformats.org/officeDocument/2006/relationships/image" Target="/ppt/media/image6.svg" Id="R484f820a08a141cb" /><Relationship Type="http://schemas.openxmlformats.org/officeDocument/2006/relationships/image" Target="/ppt/media/image7.svg" Id="R31664b4d457d4290" /><Relationship Type="http://schemas.openxmlformats.org/officeDocument/2006/relationships/image" Target="/ppt/media/image6.png" Id="R250f5428e46441a0" /><Relationship Type="http://schemas.openxmlformats.org/officeDocument/2006/relationships/notesSlide" Target="/ppt/notesSlides/notesSlide8.xml" Id="R9a070f01c1e443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2e2e1d702a4814" /><Relationship Type="http://schemas.openxmlformats.org/officeDocument/2006/relationships/notesSlide" Target="/ppt/notesSlides/notesSlide9.xml" Id="Rbd89c4f513e94f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ae6033e664c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800480" cy="6858000"/>
          </a:xfr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22152D4-7DA4-4108-B8AA-1DB4B592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360" y="1806575"/>
            <a:ext cx="6296860" cy="614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700" b="1" spc="-74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WAVECON</a:t>
            </a:r>
            <a:endParaRPr sz="37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C7B14EB-E7A9-4BE1-93BB-DDD3E9F4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360" y="2496443"/>
            <a:ext cx="6296860" cy="491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2950" b="1" spc="-6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5G Launch Business Impact</a:t>
            </a:r>
            <a:endParaRPr sz="29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2D5BFCA-6E25-4689-B00D-DB10D942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360" y="3271341"/>
            <a:ext cx="6906444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Revenue • Customer KPIs • Plan Portfolio • Actions</a:t>
            </a:r>
            <a:endParaRPr sz="14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BCDF429-78D9-4059-B5ED-1AE474CC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360" y="3729633"/>
            <a:ext cx="3572778" cy="287139"/>
          </a:xfrm>
          <a:prstGeom xmlns:a="http://schemas.openxmlformats.org/drawingml/2006/main" prst="roundRect">
            <a:avLst>
              <a:gd name="adj" fmla="val 22118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6296FF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342441-CEF2-492F-9CF3-F0F1B028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65" y="3786287"/>
            <a:ext cx="3955554" cy="173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150">
                <a:solidFill>
                  <a:srgbClr val="6296FF"/>
                </a:solidFill>
                <a:latin typeface="Geist"/>
                <a:ea typeface="Geist"/>
                <a:cs typeface="Geist"/>
              </a:rPr>
              <a:t>PRE VS POST 5G | JAN–APR VS JUN–SEP 2022</a:t>
            </a:r>
            <a:endParaRPr sz="11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CFDE7D2-1FC5-4A06-BE16-5C693595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592" y="3729633"/>
            <a:ext cx="2433081" cy="287139"/>
          </a:xfrm>
          <a:prstGeom xmlns:a="http://schemas.openxmlformats.org/drawingml/2006/main" prst="roundRect">
            <a:avLst>
              <a:gd name="adj" fmla="val 22118"/>
            </a:avLst>
          </a:prstGeom>
          <a:solidFill xmlns:a="http://schemas.openxmlformats.org/drawingml/2006/main">
            <a:srgbClr val="00194D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54F6B21-A8DB-450C-AEC6-A70AB9B9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996" y="3786287"/>
            <a:ext cx="2815857" cy="173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150">
                <a:solidFill>
                  <a:srgbClr val="EBEDF0"/>
                </a:solidFill>
                <a:latin typeface="Geist"/>
                <a:ea typeface="Geist"/>
                <a:cs typeface="Geist"/>
              </a:rPr>
              <a:t>STRATEGY: MONETIZE + RETAIN</a:t>
            </a:r>
            <a:endParaRPr sz="11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1B4AF21-05C5-4964-BD6C-C0480999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360" y="4229398"/>
            <a:ext cx="6296860" cy="699195"/>
          </a:xfrm>
          <a:prstGeom xmlns:a="http://schemas.openxmlformats.org/drawingml/2006/main" prst="roundRect">
            <a:avLst>
              <a:gd name="adj" fmla="val 11354"/>
            </a:avLst>
          </a:prstGeom>
          <a:solidFill xmlns:a="http://schemas.openxmlformats.org/drawingml/2006/main">
            <a:srgbClr val="002A80"/>
          </a:solidFill>
        </p:spPr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d85695e764b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2367" y="4471690"/>
            <a:ext cx="236234" cy="189012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14254E3-CB23-47D0-83EF-B6C033D4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608" y="4465638"/>
            <a:ext cx="6103190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FFFFFF"/>
                </a:solidFill>
                <a:latin typeface="Geist Bold"/>
                <a:ea typeface="Geist Bold"/>
                <a:cs typeface="Geist Bold"/>
              </a:rPr>
              <a:t>Executive takeaway:</a:t>
            </a:r>
            <a:r>
              <a:rPr sz="1450">
                <a:solidFill>
                  <a:srgbClr val="FFFFFF"/>
                </a:solidFill>
                <a:latin typeface="Geist"/>
                <a:ea typeface="Geist"/>
                <a:cs typeface="Geist"/>
              </a:rPr>
              <a:t> 5G improved value per user.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8117196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54A77D7-EEF6-4313-9033-1DB77721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674291"/>
            <a:ext cx="10868745" cy="4300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2600" b="1" spc="-52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The 5G story is a monetisation win — with a retention leak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033CAC-612A-4189-8E9D-372F463D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905" y="1355626"/>
            <a:ext cx="3763571" cy="4366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400" b="1" spc="-69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₹15.9bn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4705A5-1C73-419D-8002-2887DEA1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927820"/>
            <a:ext cx="5376530" cy="215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300" b="1" spc="-26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Total Revenue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D23167-6630-4373-9D7E-61C7D6DB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198390"/>
            <a:ext cx="5376530" cy="146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buNone/>
            </a:pPr>
            <a:r>
              <a:rPr sz="1000">
                <a:solidFill>
                  <a:srgbClr val="FAC496"/>
                </a:solidFill>
                <a:latin typeface="Geist"/>
                <a:ea typeface="Geist"/>
                <a:cs typeface="Geist"/>
              </a:rPr>
              <a:t>↓ 0.50%</a:t>
            </a: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 vs pre-5G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3D3B0E-956E-4D73-80B0-D7EAA3AB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120" y="1355626"/>
            <a:ext cx="3763571" cy="4366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400" b="1" spc="-69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₹211.3</a:t>
            </a:r>
            <a:endParaRPr sz="3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F9CF9C8-0944-4380-8421-2EF7E05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691" y="1927820"/>
            <a:ext cx="5376530" cy="215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300" b="1" spc="-26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ARPU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E49D5EC-EF3D-4468-BD1E-122E7934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691" y="2198390"/>
            <a:ext cx="5376530" cy="146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buNone/>
            </a:pPr>
            <a:r>
              <a:rPr sz="1000">
                <a:solidFill>
                  <a:srgbClr val="9FEED9"/>
                </a:solidFill>
                <a:latin typeface="Geist"/>
                <a:ea typeface="Geist"/>
                <a:cs typeface="Geist"/>
              </a:rPr>
              <a:t>↑ 11.05%</a:t>
            </a: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 — premium signal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839314B-6532-4079-BBC1-443F5B1F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905" y="2595959"/>
            <a:ext cx="3763571" cy="4366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400" b="1" spc="-69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77.4M</a:t>
            </a:r>
            <a:endParaRPr sz="3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F660F7C-2589-44D2-A1F3-25A7406D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168154"/>
            <a:ext cx="5376530" cy="215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300" b="1" spc="-26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Active Users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61221D0-B1BE-4336-858F-0EA6E9A7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438723"/>
            <a:ext cx="5376530" cy="146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buNone/>
            </a:pPr>
            <a:r>
              <a:rPr sz="1000">
                <a:solidFill>
                  <a:srgbClr val="FAC496"/>
                </a:solidFill>
                <a:latin typeface="Geist"/>
                <a:ea typeface="Geist"/>
                <a:cs typeface="Geist"/>
              </a:rPr>
              <a:t>↓ 8.28%</a:t>
            </a: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 — core risk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4968F65-43AE-4C78-86C5-63B9F13C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120" y="2595959"/>
            <a:ext cx="3763571" cy="4366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400" b="1" spc="-69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6.96M</a:t>
            </a:r>
            <a:endParaRPr sz="3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5AECC89-1A9F-4CA4-877C-58899220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691" y="3168154"/>
            <a:ext cx="5376530" cy="215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300" b="1" spc="-26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Unsubscribed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50DEC93-88F0-424F-AECC-DEDAE3BF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691" y="3438723"/>
            <a:ext cx="5376530" cy="146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92000"/>
              </a:lnSpc>
              <a:buNone/>
            </a:pPr>
            <a:r>
              <a:rPr sz="1000">
                <a:solidFill>
                  <a:srgbClr val="FAC496"/>
                </a:solidFill>
                <a:latin typeface="Geist"/>
                <a:ea typeface="Geist"/>
                <a:cs typeface="Geist"/>
              </a:rPr>
              <a:t>↑ 23.5%</a:t>
            </a: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 — critical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87A5419-970C-40C1-9213-234FF59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781723"/>
            <a:ext cx="5273047" cy="215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1" spc="-26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What changed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7A9A9C4-5CE2-4F2C-92D8-891F4D67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100909"/>
            <a:ext cx="297649" cy="297656"/>
          </a:xfrm>
          <a:prstGeom xmlns:a="http://schemas.openxmlformats.org/drawingml/2006/main" prst="roundRect">
            <a:avLst>
              <a:gd name="adj" fmla="val 1867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12700">
            <a:solidFill>
              <a:srgbClr val="002A8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9AAAE9-DFF2-4604-AACA-64C88205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83" y="4120753"/>
            <a:ext cx="198433" cy="2579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50" b="1" spc="-3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1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001A209-2286-4495-BBC2-1DB90DE6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692" y="4142184"/>
            <a:ext cx="4882829" cy="215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1" spc="-26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Revenue held up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F49E7C7-369B-4BBE-AEBF-99DBBEFE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692" y="4449762"/>
            <a:ext cx="4882829" cy="146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Only a ₹80M decline despite a major technology transition.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8C32DE2-A2CE-49A5-80B4-81AFB42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781252"/>
            <a:ext cx="297649" cy="297656"/>
          </a:xfrm>
          <a:prstGeom xmlns:a="http://schemas.openxmlformats.org/drawingml/2006/main" prst="roundRect">
            <a:avLst>
              <a:gd name="adj" fmla="val 1867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12700">
            <a:solidFill>
              <a:srgbClr val="002A8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235E68F-8216-460D-BF61-D3797A67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83" y="4801096"/>
            <a:ext cx="198433" cy="2579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50" b="1" spc="-3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2</a:t>
            </a:r>
            <a:endParaRPr sz="15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C1066B8-F44A-407C-859E-9C524BA5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692" y="4822527"/>
            <a:ext cx="4882829" cy="215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1" spc="-26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Mix shifted premium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55CEF83-955C-4621-A1EE-A538098A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692" y="5130105"/>
            <a:ext cx="4882829" cy="146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Higher ARPU signals customers who stayed are spending more.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27E0CCC-157F-4A89-B0A7-35AA7277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461595"/>
            <a:ext cx="297649" cy="297656"/>
          </a:xfrm>
          <a:prstGeom xmlns:a="http://schemas.openxmlformats.org/drawingml/2006/main" prst="roundRect">
            <a:avLst>
              <a:gd name="adj" fmla="val 1867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12700">
            <a:solidFill>
              <a:srgbClr val="002A8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774BE41-97FF-4109-A15A-9CFEC49F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83" y="5481439"/>
            <a:ext cx="198433" cy="2579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50" b="1" spc="-3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3</a:t>
            </a:r>
            <a:endParaRPr sz="15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F4E435C-43B1-48B8-982F-892F6550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692" y="5502870"/>
            <a:ext cx="4882829" cy="215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1" spc="-26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Scale weakened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BE5A83C-809B-417A-852C-723836D6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692" y="5810448"/>
            <a:ext cx="4882829" cy="146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Fewer active users and more unsubscribes are the core risk.</a:t>
            </a:r>
            <a:endParaRPr sz="10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6B17392-E19E-47C3-84B0-45AF2EE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275" y="3689152"/>
            <a:ext cx="5463542" cy="2371725"/>
          </a:xfrm>
          <a:prstGeom xmlns:a="http://schemas.openxmlformats.org/drawingml/2006/main" prst="roundRect">
            <a:avLst>
              <a:gd name="adj" fmla="val 4017"/>
            </a:avLst>
          </a:prstGeom>
          <a:solidFill xmlns:a="http://schemas.openxmlformats.org/drawingml/2006/main">
            <a:srgbClr val="1F2A5D">
              <a:alpha val="95000"/>
            </a:srgbClr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EC3D62E-3B6F-444C-A5B0-BD9F6F7A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531" y="3781723"/>
            <a:ext cx="5199032" cy="215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1" spc="-26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Management Priority</a:t>
            </a:r>
            <a:endParaRPr sz="13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D70A0E0-27FF-4C24-8F59-F3D6E6AF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531" y="4089301"/>
            <a:ext cx="5808616" cy="146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Protect premiumisation while rebuilding the active-user base.</a:t>
            </a:r>
            <a:endParaRPr sz="10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3C185E3-CD33-4496-9A08-57AE968B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531" y="4339729"/>
            <a:ext cx="674373" cy="201116"/>
          </a:xfrm>
          <a:prstGeom xmlns:a="http://schemas.openxmlformats.org/drawingml/2006/main" prst="roundRect">
            <a:avLst>
              <a:gd name="adj" fmla="val 22105"/>
            </a:avLst>
          </a:prstGeom>
          <a:solidFill xmlns:a="http://schemas.openxmlformats.org/drawingml/2006/main">
            <a:srgbClr val="00194D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E5079B2-3EC6-494E-8825-F1DDD44C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904" y="4379416"/>
            <a:ext cx="1125212" cy="121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800">
                <a:solidFill>
                  <a:srgbClr val="EBEDF0"/>
                </a:solidFill>
                <a:latin typeface="Geist"/>
                <a:ea typeface="Geist"/>
                <a:cs typeface="Geist"/>
              </a:rPr>
              <a:t>MONETIZE</a:t>
            </a:r>
            <a:endParaRPr sz="8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F808479-D105-4906-B602-C56A1720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982" y="4339729"/>
            <a:ext cx="516024" cy="201116"/>
          </a:xfrm>
          <a:prstGeom xmlns:a="http://schemas.openxmlformats.org/drawingml/2006/main" prst="roundRect">
            <a:avLst>
              <a:gd name="adj" fmla="val 22105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6296F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A6D2B10-21D4-4A81-A2F7-7E6FD560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355" y="4379416"/>
            <a:ext cx="966863" cy="121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800">
                <a:solidFill>
                  <a:srgbClr val="6296FF"/>
                </a:solidFill>
                <a:latin typeface="Geist"/>
                <a:ea typeface="Geist"/>
                <a:cs typeface="Geist"/>
              </a:rPr>
              <a:t>RETAIN</a:t>
            </a:r>
            <a:endParaRPr sz="8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DC5F114-216C-4751-9F7B-F429845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" y="6457255"/>
            <a:ext cx="2874692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99235" rIns="59541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WAVECON • 5G BUSINESS IMPACT</a:t>
            </a:r>
            <a:endParaRPr sz="10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54B62B2-2A56-46A9-A8E5-E5846512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156" y="6457255"/>
            <a:ext cx="850283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59541" rIns="99235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628172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2EB1E2-CFC0-4C82-87C2-22277AB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800695"/>
            <a:ext cx="10868745" cy="5220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150" b="1" spc="-63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5G did not lift total revenue immediately</a:t>
            </a:r>
            <a:endParaRPr sz="31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5DB72A-BFCB-43AD-B29E-F0FAF52D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664097"/>
            <a:ext cx="5801374" cy="261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550" b="1" spc="-32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National Revenue</a:t>
            </a:r>
            <a:endParaRPr sz="1550"/>
          </a:p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88fe1043f48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2078732"/>
            <a:ext cx="4931148" cy="3386138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27AE4FE-9E5E-463B-9B44-7E10601E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618460"/>
            <a:ext cx="6410958" cy="193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EBEDF0"/>
                </a:solidFill>
                <a:latin typeface="Geist"/>
                <a:ea typeface="Geist"/>
                <a:cs typeface="Geist"/>
              </a:rPr>
              <a:t>Overall revenue change: </a:t>
            </a:r>
            <a:r>
              <a:rPr sz="1250" b="1">
                <a:solidFill>
                  <a:srgbClr val="FAC496"/>
                </a:solidFill>
                <a:latin typeface="Geist Bold"/>
                <a:ea typeface="Geist Bold"/>
                <a:cs typeface="Geist Bold"/>
              </a:rPr>
              <a:t>-0.50%</a:t>
            </a:r>
            <a:r>
              <a:rPr sz="1250">
                <a:solidFill>
                  <a:srgbClr val="EBEDF0"/>
                </a:solidFill>
                <a:latin typeface="Geist"/>
                <a:ea typeface="Geist"/>
                <a:cs typeface="Geist"/>
              </a:rPr>
              <a:t> | Absolute decline: </a:t>
            </a:r>
            <a:r>
              <a:rPr sz="12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≈ ₹80M</a:t>
            </a:r>
            <a:endParaRPr sz="12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13B4471-9E40-46F6-9D47-1BDDD44A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103" y="1664097"/>
            <a:ext cx="4675368" cy="261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550" b="1" spc="-32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City Performance</a:t>
            </a:r>
            <a:endParaRPr sz="1550"/>
          </a:p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2d61622f2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1103" y="2078732"/>
            <a:ext cx="3974008" cy="3016052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091DF05-698C-4583-BC0A-CB5751A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103" y="5248374"/>
            <a:ext cx="5284953" cy="193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EBEDF0"/>
                </a:solidFill>
                <a:latin typeface="Geist"/>
                <a:ea typeface="Geist"/>
                <a:cs typeface="Geist"/>
              </a:rPr>
              <a:t>Metro softness is masking growth in selected Tier-2/3 markets.</a:t>
            </a:r>
            <a:endParaRPr sz="12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FC21EB0-AE71-4CFE-BD6C-6BD4E6E5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" y="6457255"/>
            <a:ext cx="2874692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99235" rIns="59541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WAVECON • 5G BUSINESS IMPACT</a:t>
            </a:r>
            <a:endParaRPr sz="1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8E3FFA0-931F-4042-AD34-47131EF5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950" y="6457255"/>
            <a:ext cx="849490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59541" rIns="99235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142308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20BE2E-E8C2-4170-AD24-C2924325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682724"/>
            <a:ext cx="10868745" cy="1228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700" b="1" spc="-74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Customer retention is the KPI problem — not monetisation</a:t>
            </a:r>
            <a:endParaRPr sz="3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BFC7AC-EDB4-4A83-B463-1D0CF190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289274"/>
            <a:ext cx="10868745" cy="1972469"/>
          </a:xfrm>
          <a:prstGeom xmlns:a="http://schemas.openxmlformats.org/drawingml/2006/main" prst="roundRect">
            <a:avLst>
              <a:gd name="adj" fmla="val 4025"/>
            </a:avLst>
          </a:prstGeom>
          <a:noFill xmlns:a="http://schemas.openxmlformats.org/drawingml/2006/main"/>
          <a:ln xmlns:a="http://schemas.openxmlformats.org/drawingml/2006/main"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DA44842-EA0D-423E-8013-08FF3180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783979"/>
            <a:ext cx="10868745" cy="11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3C574B-F1E8-4FBC-B5ED-4106D645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275509"/>
            <a:ext cx="10868745" cy="11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4DF349-0627-42A0-A0B5-0DC1AB3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767038"/>
            <a:ext cx="10868745" cy="11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CA09DF3-A140-495F-B8F6-F303E4F0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30" y="2415381"/>
            <a:ext cx="348834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Metric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A493E53-D4E5-489A-8211-4C5D3F50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804" y="2415381"/>
            <a:ext cx="2402720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Pre-5G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D10CA80-41F4-4249-A121-2B1CF230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954" y="2415381"/>
            <a:ext cx="2402720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Post-5G</a:t>
            </a:r>
            <a:endParaRPr sz="14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A8251A-C147-423A-8C78-8E2DD19B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103" y="2415381"/>
            <a:ext cx="348834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Change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4DC2F3-2980-4416-85F6-BF5A19FE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30" y="2906911"/>
            <a:ext cx="348834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ARPU</a:t>
            </a:r>
            <a:endParaRPr sz="14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B5F246-C9BD-44BB-9DC0-68455A3B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804" y="2906911"/>
            <a:ext cx="2402720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₹190.2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07535B-09D3-42A5-AE78-6C77406A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954" y="2906911"/>
            <a:ext cx="2402720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₹211.3</a:t>
            </a:r>
            <a:endParaRPr sz="14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A848D24-0847-4CDD-806C-30F2FB09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103" y="2906911"/>
            <a:ext cx="348834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9FEED9"/>
                </a:solidFill>
                <a:latin typeface="Geist Bold"/>
                <a:ea typeface="Geist Bold"/>
                <a:cs typeface="Geist Bold"/>
              </a:rPr>
              <a:t>+11.05% ✓ Healthy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13EC2C1-F2B4-461F-8132-15008B95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30" y="3398441"/>
            <a:ext cx="348834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Total Active Users (TAU)</a:t>
            </a:r>
            <a:endParaRPr sz="14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8099825-03D0-45E4-A46C-ACBC593F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804" y="3398441"/>
            <a:ext cx="2402720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84.4M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0CB0EB8-A626-4C25-AC20-BAB8A581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954" y="3398441"/>
            <a:ext cx="2402720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77.4M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FF0391B-524C-462F-9C84-316286A6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103" y="3398441"/>
            <a:ext cx="348834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FAC496"/>
                </a:solidFill>
                <a:latin typeface="Geist Bold"/>
                <a:ea typeface="Geist Bold"/>
                <a:cs typeface="Geist Bold"/>
              </a:rPr>
              <a:t>-8.28% </a:t>
            </a:r>
            <a:r>
              <a:rPr sz="1450">
                <a:solidFill>
                  <a:srgbClr val="000000"/>
                </a:solidFill>
                <a:latin typeface="Geist"/>
                <a:ea typeface="Geist"/>
                <a:cs typeface="Geist"/>
              </a:rPr>
              <a:t>⚠</a:t>
            </a:r>
            <a:r>
              <a:rPr sz="1450" b="1">
                <a:solidFill>
                  <a:srgbClr val="FAC496"/>
                </a:solidFill>
                <a:latin typeface="Geist Bold"/>
                <a:ea typeface="Geist Bold"/>
                <a:cs typeface="Geist Bold"/>
              </a:rPr>
              <a:t> Underperforming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2314354-DFC6-4494-B6EA-0C788A4B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30" y="3889970"/>
            <a:ext cx="348834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Total Unsubscribed (TUSU)</a:t>
            </a:r>
            <a:endParaRPr sz="14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50716DF-F53B-49FC-BE3F-5C62E654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804" y="3889970"/>
            <a:ext cx="2402720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5.63M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0EC1EF1-5E5E-4E02-9837-E5F49127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954" y="3889970"/>
            <a:ext cx="2402720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6.96M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02ECCDE-DE4A-4035-8264-8DA7EAE2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103" y="3889970"/>
            <a:ext cx="348834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C593DB"/>
                </a:solidFill>
                <a:latin typeface="Geist Bold"/>
                <a:ea typeface="Geist Bold"/>
                <a:cs typeface="Geist Bold"/>
              </a:rPr>
              <a:t>+23.5% ✗ Critical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46FE4CE-F5F5-4532-96BD-34F65201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36" y="4757837"/>
            <a:ext cx="10585284" cy="307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50" b="1" spc="-37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The Revenue Paradox</a:t>
            </a:r>
            <a:endParaRPr sz="18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7750634-037B-4F61-8302-8EE345CA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36" y="5348387"/>
            <a:ext cx="10585284" cy="491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Higher spend per user + fewer active users = flat / lower revenue.</a:t>
            </a: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 5G is attracting higher-value usage, but migration friction and/or pricing is pushing too many users out.</a:t>
            </a:r>
            <a:endParaRPr sz="14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0562D27-338D-494C-ADC0-28F5E1DA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474369"/>
            <a:ext cx="25399" cy="1577975"/>
          </a:xfrm>
          <a:prstGeom xmlns:a="http://schemas.openxmlformats.org/drawingml/2006/main" prst="roundRect">
            <a:avLst>
              <a:gd name="adj" fmla="val 50001"/>
            </a:avLst>
          </a:prstGeom>
          <a:solidFill xmlns:a="http://schemas.openxmlformats.org/drawingml/2006/main">
            <a:srgbClr val="6296FF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F2A3CA6-628A-4034-B06C-38D0E9D9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" y="6457255"/>
            <a:ext cx="2874692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99235" rIns="59541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WAVECON • 5G BUSINESS IMPACT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8E50594-5341-43B1-8D86-ED403747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752" y="6457255"/>
            <a:ext cx="849688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59541" rIns="99235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077392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5EC0E8-EAE9-4154-84A1-88A10328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710406"/>
            <a:ext cx="10868745" cy="982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2950" b="1" spc="-6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Post-5G winners are data-heavy; legacy packs are losing relevance</a:t>
            </a:r>
            <a:endParaRPr sz="29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66B3969-0485-41BD-A147-45B9C273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010668"/>
            <a:ext cx="908127" cy="229691"/>
          </a:xfrm>
          <a:prstGeom xmlns:a="http://schemas.openxmlformats.org/drawingml/2006/main" prst="roundRect">
            <a:avLst>
              <a:gd name="adj" fmla="val 22120"/>
            </a:avLst>
          </a:prstGeom>
          <a:solidFill xmlns:a="http://schemas.openxmlformats.org/drawingml/2006/main">
            <a:srgbClr val="00194D"/>
          </a:solidFill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6ba9c4088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159" y="2065040"/>
            <a:ext cx="120945" cy="120948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40AF1AA-2B09-46DC-BCC3-6D77EF4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26" y="2056011"/>
            <a:ext cx="1154977" cy="139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950">
                <a:solidFill>
                  <a:srgbClr val="EBEDF0"/>
                </a:solidFill>
                <a:latin typeface="Geist"/>
                <a:ea typeface="Geist"/>
                <a:cs typeface="Geist"/>
              </a:rPr>
              <a:t>WINNERS</a:t>
            </a:r>
            <a:endParaRPr sz="950"/>
          </a:p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9cbab20eb4d19">
            <a:extLst>
              <a:ext uri="{96DAC541-7B7A-43D3-8B79-37D633B846F1}">
                <asvg:svgBlip xmlns:asvg="http://schemas.microsoft.com/office/drawing/2016/SVG/main" r:embed="Rff96b2e72a5142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2376388"/>
            <a:ext cx="5249930" cy="884039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1DE577D-04AF-4057-A23E-B3F8C351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8" y="2546648"/>
            <a:ext cx="4833221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 spc="-30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P1 — Smart Recharge Pack</a:t>
            </a:r>
            <a:endParaRPr sz="14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2D16E05-941A-4BD0-A011-26C48EE1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8" y="2913261"/>
            <a:ext cx="4833221" cy="1769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7000"/>
              </a:lnSpc>
              <a:buNone/>
            </a:pPr>
            <a:r>
              <a:rPr sz="1150">
                <a:solidFill>
                  <a:srgbClr val="EBEDF0"/>
                </a:solidFill>
                <a:latin typeface="Geist"/>
                <a:ea typeface="Geist"/>
                <a:cs typeface="Geist"/>
              </a:rPr>
              <a:t>Strongest established plan post-5G; revenue accelerated.</a:t>
            </a:r>
            <a:endParaRPr sz="1150"/>
          </a:p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9cbab20eb4d19">
            <a:extLst>
              <a:ext uri="{96DAC541-7B7A-43D3-8B79-37D633B846F1}">
                <asvg:svgBlip xmlns:asvg="http://schemas.microsoft.com/office/drawing/2016/SVG/main" r:embed="Rff96b2e72a5142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3381375"/>
            <a:ext cx="5249930" cy="884039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E949F4E0-5F03-4C02-BA78-2931DC5B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8" y="3551634"/>
            <a:ext cx="4833221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 spc="-30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P11 — Ultra Fast Mega Pack</a:t>
            </a:r>
            <a:endParaRPr sz="14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CD91B316-819C-4DD6-A11B-40AEC33C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8" y="3918248"/>
            <a:ext cx="4833221" cy="1769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7000"/>
              </a:lnSpc>
              <a:buNone/>
            </a:pPr>
            <a:r>
              <a:rPr sz="1150">
                <a:solidFill>
                  <a:srgbClr val="EBEDF0"/>
                </a:solidFill>
                <a:latin typeface="Geist"/>
                <a:ea typeface="Geist"/>
                <a:cs typeface="Geist"/>
              </a:rPr>
              <a:t>New 5G plan with strong traction and premium-data fit.</a:t>
            </a:r>
            <a:endParaRPr sz="1150"/>
          </a:p>
        </p:txBody>
      </p:sp>
      <p:pic>
        <p:nvPicPr>
          <p:cNvPr id="5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9cbab20eb4d19">
            <a:extLst>
              <a:ext uri="{96DAC541-7B7A-43D3-8B79-37D633B846F1}">
                <asvg:svgBlip xmlns:asvg="http://schemas.microsoft.com/office/drawing/2016/SVG/main" r:embed="Rff96b2e72a5142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4386362"/>
            <a:ext cx="5249930" cy="884039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A5FE085F-E99A-4F3B-8966-56DAE46A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8" y="4556621"/>
            <a:ext cx="4833221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 spc="-30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P12 — Ultra Duo Data Pack</a:t>
            </a:r>
            <a:endParaRPr sz="145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AE979955-A4D1-47CE-B333-AB66615B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8" y="4923234"/>
            <a:ext cx="4833221" cy="1769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7000"/>
              </a:lnSpc>
              <a:buNone/>
            </a:pPr>
            <a:r>
              <a:rPr sz="1150">
                <a:solidFill>
                  <a:srgbClr val="EBEDF0"/>
                </a:solidFill>
                <a:latin typeface="Geist"/>
                <a:ea typeface="Geist"/>
                <a:cs typeface="Geist"/>
              </a:rPr>
              <a:t>Healthy post-launch contribution; aligned to higher data use.</a:t>
            </a:r>
            <a:endParaRPr sz="1150"/>
          </a:p>
        </p:txBody>
      </p:sp>
      <p:sp>
        <p:nvSpPr>
          <p:cNvPr id="15" name="Shape 9">
            <a:extLst xmlns:a="http://schemas.openxmlformats.org/drawingml/2006/main">
              <a:ext uri="{FF2B5EF4-FFF2-40B4-BE49-F238E27FC236}">
                <a16:creationId xmlns:a16="http://schemas.microsoft.com/office/drawing/2014/main" id="{559CC41D-BC05-4ABA-B4A5-3D999C2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40" y="2010668"/>
            <a:ext cx="1395477" cy="229691"/>
          </a:xfrm>
          <a:prstGeom xmlns:a="http://schemas.openxmlformats.org/drawingml/2006/main" prst="roundRect">
            <a:avLst>
              <a:gd name="adj" fmla="val 22120"/>
            </a:avLst>
          </a:prstGeom>
          <a:solidFill xmlns:a="http://schemas.openxmlformats.org/drawingml/2006/main">
            <a:srgbClr val="00194D"/>
          </a:solidFill>
        </p:spPr>
      </p:sp>
      <p:pic>
        <p:nvPicPr>
          <p:cNvPr id="5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29469269042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7324" y="2065040"/>
            <a:ext cx="120945" cy="12094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65F253F9-42B8-4D32-A876-1C1FC97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691" y="2056011"/>
            <a:ext cx="1642327" cy="139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950">
                <a:solidFill>
                  <a:srgbClr val="EBEDF0"/>
                </a:solidFill>
                <a:latin typeface="Geist"/>
                <a:ea typeface="Geist"/>
                <a:cs typeface="Geist"/>
              </a:rPr>
              <a:t>LOSERS / REVIEW</a:t>
            </a:r>
            <a:endParaRPr sz="950"/>
          </a:p>
        </p:txBody>
      </p:sp>
      <p:pic>
        <p:nvPicPr>
          <p:cNvPr id="6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bbb04cc2e4a95">
            <a:extLst>
              <a:ext uri="{96DAC541-7B7A-43D3-8B79-37D633B846F1}">
                <asvg:svgBlip xmlns:asvg="http://schemas.microsoft.com/office/drawing/2016/SVG/main" r:embed="R240a72c4190f46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640" y="2376388"/>
            <a:ext cx="2564443" cy="884039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3556AF7E-8F0B-46F0-A7D8-C46C3FD7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094" y="2546648"/>
            <a:ext cx="214773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 spc="-30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P5</a:t>
            </a:r>
            <a:endParaRPr sz="1450"/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0A7BAA49-8979-4FB3-844B-20958DF6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094" y="2913261"/>
            <a:ext cx="2147735" cy="1769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7000"/>
              </a:lnSpc>
              <a:buNone/>
            </a:pPr>
            <a:r>
              <a:rPr sz="1150">
                <a:solidFill>
                  <a:srgbClr val="EBEDF0"/>
                </a:solidFill>
                <a:latin typeface="Geist"/>
                <a:ea typeface="Geist"/>
                <a:cs typeface="Geist"/>
              </a:rPr>
              <a:t>Legacy / low-value mix</a:t>
            </a:r>
            <a:endParaRPr sz="1150"/>
          </a:p>
        </p:txBody>
      </p:sp>
      <p:pic>
        <p:nvPicPr>
          <p:cNvPr id="6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bbb04cc2e4a95">
            <a:extLst>
              <a:ext uri="{96DAC541-7B7A-43D3-8B79-37D633B846F1}">
                <asvg:svgBlip xmlns:asvg="http://schemas.microsoft.com/office/drawing/2016/SVG/main" r:embed="R240a72c4190f46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028" y="2376388"/>
            <a:ext cx="2564542" cy="884039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0F1D418A-3FA3-40D7-A5E8-F6C89C9D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481" y="2546648"/>
            <a:ext cx="2147834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 spc="-30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P6</a:t>
            </a:r>
            <a:endParaRPr sz="1450"/>
          </a:p>
        </p:txBody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A40632AE-CE25-4A92-BE73-A3ACD425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481" y="2913261"/>
            <a:ext cx="2147834" cy="1769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7000"/>
              </a:lnSpc>
              <a:buNone/>
            </a:pPr>
            <a:r>
              <a:rPr sz="1150">
                <a:solidFill>
                  <a:srgbClr val="EBEDF0"/>
                </a:solidFill>
                <a:latin typeface="Geist"/>
                <a:ea typeface="Geist"/>
                <a:cs typeface="Geist"/>
              </a:rPr>
              <a:t>Low-data proposition</a:t>
            </a:r>
            <a:endParaRPr sz="1150"/>
          </a:p>
        </p:txBody>
      </p:sp>
      <p:pic>
        <p:nvPicPr>
          <p:cNvPr id="6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bbb04cc2e4a95">
            <a:extLst>
              <a:ext uri="{96DAC541-7B7A-43D3-8B79-37D633B846F1}">
                <asvg:svgBlip xmlns:asvg="http://schemas.microsoft.com/office/drawing/2016/SVG/main" r:embed="R240a72c4190f46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640" y="3381375"/>
            <a:ext cx="2564443" cy="884039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761EF9CE-CBB3-472B-88EB-C5FAE79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094" y="3551634"/>
            <a:ext cx="2147735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 spc="-30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P7</a:t>
            </a:r>
            <a:endParaRPr sz="1450"/>
          </a:p>
        </p:txBody>
      </p:sp>
      <p:sp>
        <p:nvSpPr>
          <p:cNvPr id="26" name="Text 16">
            <a:extLst xmlns:a="http://schemas.openxmlformats.org/drawingml/2006/main">
              <a:ext uri="{FF2B5EF4-FFF2-40B4-BE49-F238E27FC236}">
                <a16:creationId xmlns:a16="http://schemas.microsoft.com/office/drawing/2014/main" id="{D7F78CF0-CA09-418B-9890-CCD8FBA6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094" y="3918248"/>
            <a:ext cx="2147735" cy="1769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7000"/>
              </a:lnSpc>
              <a:buNone/>
            </a:pPr>
            <a:r>
              <a:rPr sz="1150">
                <a:solidFill>
                  <a:srgbClr val="EBEDF0"/>
                </a:solidFill>
                <a:latin typeface="Geist"/>
                <a:ea typeface="Geist"/>
                <a:cs typeface="Geist"/>
              </a:rPr>
              <a:t>Severe structural decline</a:t>
            </a:r>
            <a:endParaRPr sz="1150"/>
          </a:p>
        </p:txBody>
      </p:sp>
      <p:pic>
        <p:nvPicPr>
          <p:cNvPr id="7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bbb04cc2e4a95">
            <a:extLst>
              <a:ext uri="{96DAC541-7B7A-43D3-8B79-37D633B846F1}">
                <asvg:svgBlip xmlns:asvg="http://schemas.microsoft.com/office/drawing/2016/SVG/main" r:embed="R240a72c4190f46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028" y="3381375"/>
            <a:ext cx="2564542" cy="884039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F16823-E4E2-448B-9702-8C2126D3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481" y="3551634"/>
            <a:ext cx="2147834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 spc="-30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P13</a:t>
            </a:r>
            <a:endParaRPr sz="1450"/>
          </a:p>
        </p:txBody>
      </p:sp>
      <p:sp>
        <p:nvSpPr>
          <p:cNvPr id="29" name="Text 18">
            <a:extLst xmlns:a="http://schemas.openxmlformats.org/drawingml/2006/main">
              <a:ext uri="{FF2B5EF4-FFF2-40B4-BE49-F238E27FC236}">
                <a16:creationId xmlns:a16="http://schemas.microsoft.com/office/drawing/2014/main" id="{24D4FADF-3A30-48C5-82BD-F8B23533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481" y="3918248"/>
            <a:ext cx="2147834" cy="1769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7000"/>
              </a:lnSpc>
              <a:buNone/>
            </a:pPr>
            <a:r>
              <a:rPr sz="1150">
                <a:solidFill>
                  <a:srgbClr val="EBEDF0"/>
                </a:solidFill>
                <a:latin typeface="Geist"/>
                <a:ea typeface="Geist"/>
                <a:cs typeface="Geist"/>
              </a:rPr>
              <a:t>New plan, weaker traction</a:t>
            </a:r>
            <a:endParaRPr sz="1150"/>
          </a:p>
        </p:txBody>
      </p:sp>
      <p:sp>
        <p:nvSpPr>
          <p:cNvPr id="30" name="Shape 19">
            <a:extLst xmlns:a="http://schemas.openxmlformats.org/drawingml/2006/main">
              <a:ext uri="{FF2B5EF4-FFF2-40B4-BE49-F238E27FC236}">
                <a16:creationId xmlns:a16="http://schemas.microsoft.com/office/drawing/2014/main" id="{39C35C33-03D8-4717-824B-F1EB8062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542459"/>
            <a:ext cx="10868745" cy="482302"/>
          </a:xfrm>
          <a:prstGeom xmlns:a="http://schemas.openxmlformats.org/drawingml/2006/main" prst="roundRect">
            <a:avLst>
              <a:gd name="adj" fmla="val 13168"/>
            </a:avLst>
          </a:prstGeom>
          <a:solidFill xmlns:a="http://schemas.openxmlformats.org/drawingml/2006/main">
            <a:srgbClr val="002A80"/>
          </a:solidFill>
        </p:spPr>
      </p:sp>
      <p:pic>
        <p:nvPicPr>
          <p:cNvPr id="74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adf1c383f4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680" y="5701209"/>
            <a:ext cx="189007" cy="151209"/>
          </a:xfrm>
          <a:prstGeom xmlns:a="http://schemas.openxmlformats.org/drawingml/2006/main" prst="rect">
            <a:avLst/>
          </a:prstGeom>
        </p:spPr>
      </p:pic>
      <p:sp>
        <p:nvSpPr>
          <p:cNvPr id="32" name="Text 20">
            <a:extLst xmlns:a="http://schemas.openxmlformats.org/drawingml/2006/main">
              <a:ext uri="{FF2B5EF4-FFF2-40B4-BE49-F238E27FC236}">
                <a16:creationId xmlns:a16="http://schemas.microsoft.com/office/drawing/2014/main" id="{E1901363-9D46-44AE-A481-D3A75815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93" y="5701209"/>
            <a:ext cx="10835706" cy="1769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7000"/>
              </a:lnSpc>
              <a:buNone/>
            </a:pPr>
            <a:r>
              <a:rPr sz="1150" b="1">
                <a:solidFill>
                  <a:srgbClr val="FFFFFF"/>
                </a:solidFill>
                <a:latin typeface="Geist Bold"/>
                <a:ea typeface="Geist Bold"/>
                <a:cs typeface="Geist Bold"/>
              </a:rPr>
              <a:t>Portfolio signal:</a:t>
            </a:r>
            <a:r>
              <a:rPr sz="1150">
                <a:solidFill>
                  <a:srgbClr val="FFFFFF"/>
                </a:solidFill>
                <a:latin typeface="Geist"/>
                <a:ea typeface="Geist"/>
                <a:cs typeface="Geist"/>
              </a:rPr>
              <a:t> Demand is shifting from talk-time and low-data packs toward high-data 5G bundles.</a:t>
            </a:r>
            <a:endParaRPr sz="1150"/>
          </a:p>
        </p:txBody>
      </p:sp>
      <p:sp>
        <p:nvSpPr>
          <p:cNvPr id="33" name="Text 21">
            <a:extLst xmlns:a="http://schemas.openxmlformats.org/drawingml/2006/main">
              <a:ext uri="{FF2B5EF4-FFF2-40B4-BE49-F238E27FC236}">
                <a16:creationId xmlns:a16="http://schemas.microsoft.com/office/drawing/2014/main" id="{7486B67B-C53D-41D8-A176-F637931F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" y="6457255"/>
            <a:ext cx="2874692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99235" rIns="59541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WAVECON • 5G BUSINESS IMPACT</a:t>
            </a:r>
            <a:endParaRPr sz="1000"/>
          </a:p>
        </p:txBody>
      </p:sp>
      <p:sp>
        <p:nvSpPr>
          <p:cNvPr id="34" name="Text 22">
            <a:extLst xmlns:a="http://schemas.openxmlformats.org/drawingml/2006/main">
              <a:ext uri="{FF2B5EF4-FFF2-40B4-BE49-F238E27FC236}">
                <a16:creationId xmlns:a16="http://schemas.microsoft.com/office/drawing/2014/main" id="{EFD47ED2-5A5E-467C-9160-5A58DA56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263" y="6457255"/>
            <a:ext cx="851176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59541" rIns="99235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697824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F3E50A-B2E4-4037-9991-46962976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25661"/>
            <a:ext cx="10868745" cy="199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b="1" spc="-24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P7 is the clearest casualty of the 5G transition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ADE2BD-C7E9-47EB-A859-41F12142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733227"/>
            <a:ext cx="10868745" cy="99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600" b="1" spc="-12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P7 — 25GB Combo 3G/4G Data Pack</a:t>
            </a:r>
            <a:endParaRPr sz="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8C1918-40E5-47E8-BC58-00282611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280" y="893564"/>
            <a:ext cx="3524162" cy="202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550" b="1" spc="-32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₹582M</a:t>
            </a:r>
            <a:endParaRPr sz="15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8D88189-9688-4CE2-9D10-4A56CFF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141809"/>
            <a:ext cx="5421871" cy="99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600" b="1" spc="-12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Pre-5G Revenue</a:t>
            </a:r>
            <a:endParaRPr sz="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5C786A-389B-4B4A-9E45-73CE2B83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055" y="893564"/>
            <a:ext cx="3524261" cy="202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550" b="1" spc="-32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₹156M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57AC64-491D-4AE1-A09E-0B608BE1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250" y="1141809"/>
            <a:ext cx="5421971" cy="99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600" b="1" spc="-12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Post-5G Revenue</a:t>
            </a:r>
            <a:endParaRPr sz="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4A9F55-2B54-4C5F-9FB7-F0A39816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271488"/>
            <a:ext cx="10868745" cy="399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2400" b="1" spc="-48">
                <a:solidFill>
                  <a:srgbClr val="FAC496"/>
                </a:solidFill>
                <a:latin typeface="Geist Bold"/>
                <a:ea typeface="Geist Bold"/>
                <a:cs typeface="Geist Bold"/>
              </a:rPr>
              <a:t>-73.3%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3C116DD-983D-4AA1-BD03-39213275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700609"/>
            <a:ext cx="11478330" cy="528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2000"/>
              </a:lnSpc>
              <a:buNone/>
            </a:pPr>
            <a:r>
              <a:rPr sz="450">
                <a:solidFill>
                  <a:srgbClr val="EBEDF0"/>
                </a:solidFill>
                <a:latin typeface="Geist"/>
                <a:ea typeface="Geist"/>
                <a:cs typeface="Geist"/>
              </a:rPr>
              <a:t>Revenue lost: </a:t>
            </a:r>
            <a:r>
              <a:rPr sz="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₹426.8M</a:t>
            </a:r>
            <a:endParaRPr sz="450"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b8fb3481043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1775916"/>
            <a:ext cx="7064595" cy="3957737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ECD05F1-CD39-4C8A-A2EF-4D27B786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241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 spc="-12">
                <a:solidFill>
                  <a:srgbClr val="FFFFFF"/>
                </a:solidFill>
                <a:latin typeface="Geist Bold"/>
                <a:ea typeface="Geist Bold"/>
                <a:cs typeface="Geist Bold"/>
              </a:rPr>
              <a:t>RECOMMENDATION: SUNSET P7</a:t>
            </a:r>
            <a:endParaRPr sz="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A7A88F4-7B2E-472A-AFBF-A39A97C3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05150"/>
            <a:ext cx="300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24572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91440" indent="-91440" algn="l">
              <a:lnSpc>
                <a:spcPct val="72000"/>
              </a:lnSpc>
              <a:buSzPct val="100000"/>
              <a:buChar char="•"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eist"/>
                <a:ea typeface="Geist"/>
                <a:cs typeface="Geist"/>
              </a:rPr>
              <a:t>Obsolete 3G/4G positioning</a:t>
            </a:r>
            <a:endParaRPr sz="450"/>
          </a:p>
          <a:p xmlns:a="http://schemas.openxmlformats.org/drawingml/2006/main">
            <a:pPr marL="91440" indent="-91440" algn="l">
              <a:lnSpc>
                <a:spcPct val="72000"/>
              </a:lnSpc>
              <a:buSzPct val="100000"/>
              <a:buChar char="•"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eist"/>
                <a:ea typeface="Geist"/>
                <a:cs typeface="Geist"/>
              </a:rPr>
              <a:t>Weak fit for 5G behaviour</a:t>
            </a:r>
            <a:endParaRPr sz="450"/>
          </a:p>
          <a:p xmlns:a="http://schemas.openxmlformats.org/drawingml/2006/main">
            <a:pPr marL="91440" indent="-91440" algn="l">
              <a:lnSpc>
                <a:spcPct val="72000"/>
              </a:lnSpc>
              <a:buSzPct val="100000"/>
              <a:buChar char="•"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eist"/>
                <a:ea typeface="Geist"/>
                <a:cs typeface="Geist"/>
              </a:rPr>
              <a:t>Structural revenue collapse</a:t>
            </a:r>
            <a:endParaRPr sz="4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ECFC0CD-0EA2-4622-BDCB-D46760D7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" y="6088189"/>
            <a:ext cx="10868787" cy="121349"/>
          </a:xfrm>
          <a:prstGeom xmlns:a="http://schemas.openxmlformats.org/drawingml/2006/main" prst="roundRect">
            <a:avLst>
              <a:gd name="adj" fmla="val 21263"/>
            </a:avLst>
          </a:prstGeom>
          <a:solidFill xmlns:a="http://schemas.openxmlformats.org/drawingml/2006/main">
            <a:srgbClr val="002A80"/>
          </a:solidFill>
        </p:spPr>
      </p:sp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f1be81f6644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852" y="6123337"/>
            <a:ext cx="76676" cy="61436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8FEAFEF-2D72-4E1F-912F-78C25735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100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2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Geist Bold"/>
                <a:ea typeface="Geist Bold"/>
                <a:cs typeface="Geist Bold"/>
              </a:rPr>
              <a:t>MIGRATION: Move users to P1/P11 with a time-bound incentive.</a:t>
            </a:r>
            <a:endParaRPr sz="45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F7E7F3D-1EF7-4CF2-99D9-1B6F0DC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" y="6457255"/>
            <a:ext cx="2874692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99235" rIns="59541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WAVECON • 5G BUSINESS IMPACT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8EE852E7-4974-4DDF-AC90-ECBA8EAF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2629" y="6457255"/>
            <a:ext cx="846811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59541" rIns="99235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6320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BF8915-9F6B-451D-9981-C9C342DC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371203"/>
            <a:ext cx="10868745" cy="614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700" b="1" spc="-74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P8, P9 and P10 were discontinued after 5G</a:t>
            </a:r>
            <a:endParaRPr sz="3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DCFD56-18EA-40F3-A0D4-9BBA8015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363490"/>
            <a:ext cx="3496877" cy="1441351"/>
          </a:xfrm>
          <a:prstGeom xmlns:a="http://schemas.openxmlformats.org/drawingml/2006/main" prst="roundRect">
            <a:avLst>
              <a:gd name="adj" fmla="val 5508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19050">
            <a:solidFill>
              <a:srgbClr val="002A80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ED43764-61E1-4880-A038-987440BF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31" y="2571552"/>
            <a:ext cx="3080764" cy="307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50" b="1" spc="-37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P8</a:t>
            </a:r>
            <a:endParaRPr sz="1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7C7068-AE3C-4F7E-9E31-23E7A595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31" y="2992041"/>
            <a:ext cx="3080764" cy="604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Low data + 1-day validity</a:t>
            </a:r>
            <a:endParaRPr sz="1450"/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≈ </a:t>
            </a: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5%</a:t>
            </a: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 pre-launch revenue share</a:t>
            </a:r>
            <a:endParaRPr sz="14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3BB758F-E8B5-40CA-8AA4-8C0A9B5E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359" y="2363490"/>
            <a:ext cx="3496877" cy="1441351"/>
          </a:xfrm>
          <a:prstGeom xmlns:a="http://schemas.openxmlformats.org/drawingml/2006/main" prst="roundRect">
            <a:avLst>
              <a:gd name="adj" fmla="val 5508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19050">
            <a:solidFill>
              <a:srgbClr val="002A8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B8A83B6-C842-49C8-BF3C-6EF4F461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416" y="2571552"/>
            <a:ext cx="3080764" cy="307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50" b="1" spc="-37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P9</a:t>
            </a:r>
            <a:endParaRPr sz="1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91B838-AF23-472B-AFFC-2F88385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416" y="2992041"/>
            <a:ext cx="3080764" cy="604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Minimal data / talk-time value</a:t>
            </a:r>
            <a:endParaRPr sz="1450"/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≈ </a:t>
            </a: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2.5%</a:t>
            </a: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 pre-launch revenue share</a:t>
            </a:r>
            <a:endParaRPr sz="14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BBC1D85-5194-4346-8B7D-9D69D9D9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244" y="2363490"/>
            <a:ext cx="3496877" cy="1441351"/>
          </a:xfrm>
          <a:prstGeom xmlns:a="http://schemas.openxmlformats.org/drawingml/2006/main" prst="roundRect">
            <a:avLst>
              <a:gd name="adj" fmla="val 5508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19050">
            <a:solidFill>
              <a:srgbClr val="002A8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CEED5F5-D40C-460A-BC1B-04135CF6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300" y="2571552"/>
            <a:ext cx="3080764" cy="307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50" b="1" spc="-37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P10</a:t>
            </a:r>
            <a:endParaRPr sz="1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43D9DCC-0D10-4BB8-9A8B-B7747169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300" y="2992041"/>
            <a:ext cx="3080764" cy="604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High data but only 3-day validity</a:t>
            </a:r>
            <a:endParaRPr sz="1450"/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≈ </a:t>
            </a: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1.5%</a:t>
            </a: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 pre-launch revenue share</a:t>
            </a:r>
            <a:endParaRPr sz="14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68B02D-D4F2-4E41-8791-57EE46B2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206478"/>
            <a:ext cx="5203794" cy="307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50" b="1" spc="-37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Strategic Logic</a:t>
            </a:r>
            <a:endParaRPr sz="18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E384904-90C5-475C-B282-A1E1E391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702572"/>
            <a:ext cx="5203794" cy="491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Simplify the portfolio and move customers toward longer-validity, higher-data 5G offers.</a:t>
            </a:r>
            <a:endParaRPr sz="14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85BF46-6F19-4CD0-9651-62D23D8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776" y="4206478"/>
            <a:ext cx="5203794" cy="307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50" b="1" spc="-37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Caution</a:t>
            </a:r>
            <a:endParaRPr sz="18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EA18162-4053-4EE4-BC4B-DF8C072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776" y="4702572"/>
            <a:ext cx="5203794" cy="491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Forced migration can raise churn. Replace abrupt removal with upgrade incentives and a </a:t>
            </a: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5G Lite bridge plan</a:t>
            </a: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.</a:t>
            </a:r>
            <a:endParaRPr sz="14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ED6FD3D-004A-475A-9C47-8C1DBB90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" y="6457255"/>
            <a:ext cx="2874692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99235" rIns="59541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WAVECON • 5G BUSINESS IMPACT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FD2533-26CA-4E55-B44C-79DB9C27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757" y="6457255"/>
            <a:ext cx="837683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59541" rIns="99235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222407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1105CC-CDF0-4522-AF0E-FFCD011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96999"/>
            <a:ext cx="10868745" cy="5529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300" b="1" spc="-67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Turn 5G premiumisation into sustainable growth</a:t>
            </a:r>
            <a:endParaRPr sz="330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1d02c61ad468d">
            <a:extLst>
              <a:ext uri="{96DAC541-7B7A-43D3-8B79-37D633B846F1}">
                <asvg:svgBlip xmlns:asvg="http://schemas.microsoft.com/office/drawing/2016/SVG/main" r:embed="Ra11f2b2fef9f4f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1515566"/>
            <a:ext cx="170057" cy="170061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566658C3-BD41-4F08-A085-5859BD07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734542"/>
            <a:ext cx="35207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CFF"/>
          </a:solidFill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DC58835-7EC4-4C75-B928-2BF9CE00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857673"/>
            <a:ext cx="3520788" cy="276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50" b="1" spc="-33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Retain</a:t>
            </a:r>
            <a:endParaRPr sz="16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2511DBB-7AAD-40DF-8F2D-73233553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225774"/>
            <a:ext cx="3520788" cy="722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spcAft>
                <a:spcPts val="700"/>
              </a:spcAft>
              <a:buNone/>
            </a:pP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Launch a 5G Lite/value tier for price-sensitive users.</a:t>
            </a:r>
            <a:endParaRPr sz="1300"/>
          </a:p>
          <a:p xmlns:a="http://schemas.openxmlformats.org/drawingml/2006/main">
            <a:pPr marL="0" indent="0" algn="l">
              <a:lnSpc>
                <a:spcPct val="103000"/>
              </a:lnSpc>
              <a:buNone/>
            </a:pPr>
            <a:r>
              <a:rPr sz="130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Outcome:</a:t>
            </a: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 Reduce churn.</a:t>
            </a:r>
            <a:endParaRPr sz="1300"/>
          </a:p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a546e8e6e43b5">
            <a:extLst>
              <a:ext uri="{96DAC541-7B7A-43D3-8B79-37D633B846F1}">
                <asvg:svgBlip xmlns:asvg="http://schemas.microsoft.com/office/drawing/2016/SVG/main" r:embed="Rbac5812c468941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5354" y="1515566"/>
            <a:ext cx="170057" cy="170061"/>
          </a:xfrm>
          <a:prstGeom xmlns:a="http://schemas.openxmlformats.org/drawingml/2006/main" prst="rect">
            <a:avLst/>
          </a:prstGeom>
        </p:spPr>
      </p:pic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E9BBF2CE-374B-4710-845A-BD87C0E0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354" y="1734542"/>
            <a:ext cx="3520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CFF"/>
          </a:solidFill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11CEEC2-2BE6-469F-92C0-B1438176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354" y="1857673"/>
            <a:ext cx="3520888" cy="276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50" b="1" spc="-33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Scale</a:t>
            </a:r>
            <a:endParaRPr sz="165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BF60C82-480A-422E-BDBC-6EE80299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354" y="2225774"/>
            <a:ext cx="3520888" cy="5120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spcAft>
                <a:spcPts val="700"/>
              </a:spcAft>
              <a:buNone/>
            </a:pP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Put marketing weight behind P1, P11 and P12.</a:t>
            </a:r>
            <a:endParaRPr sz="1300"/>
          </a:p>
          <a:p xmlns:a="http://schemas.openxmlformats.org/drawingml/2006/main">
            <a:pPr marL="0" indent="0" algn="l">
              <a:lnSpc>
                <a:spcPct val="103000"/>
              </a:lnSpc>
              <a:buNone/>
            </a:pPr>
            <a:r>
              <a:rPr sz="130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Outcome:</a:t>
            </a: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 Grow 5G mix.</a:t>
            </a:r>
            <a:endParaRPr sz="1300"/>
          </a:p>
        </p:txBody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edd938dfe4538">
            <a:extLst>
              <a:ext uri="{96DAC541-7B7A-43D3-8B79-37D633B846F1}">
                <asvg:svgBlip xmlns:asvg="http://schemas.microsoft.com/office/drawing/2016/SVG/main" r:embed="R09e86aafeba3447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9332" y="1515566"/>
            <a:ext cx="170057" cy="170061"/>
          </a:xfrm>
          <a:prstGeom xmlns:a="http://schemas.openxmlformats.org/drawingml/2006/main" prst="rect">
            <a:avLst/>
          </a:prstGeom>
        </p:spPr>
      </p:pic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3A2659E4-AD0C-4FEF-9C62-4EB3823E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332" y="1734542"/>
            <a:ext cx="3520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CFF"/>
          </a:solidFill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A2FD49E-9940-4538-B2E5-D1AE5871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332" y="1857673"/>
            <a:ext cx="3520888" cy="276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50" b="1" spc="-33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Migrate</a:t>
            </a:r>
            <a:endParaRPr sz="165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B98D4E6-F5C8-4AE3-B4E5-1BE47A6E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332" y="2225774"/>
            <a:ext cx="3520888" cy="722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spcAft>
                <a:spcPts val="700"/>
              </a:spcAft>
              <a:buNone/>
            </a:pP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Sunset P7 with targeted upgrade credits, not forced exits.</a:t>
            </a:r>
            <a:endParaRPr sz="1300"/>
          </a:p>
          <a:p xmlns:a="http://schemas.openxmlformats.org/drawingml/2006/main">
            <a:pPr marL="0" indent="0" algn="l">
              <a:lnSpc>
                <a:spcPct val="103000"/>
              </a:lnSpc>
              <a:buNone/>
            </a:pPr>
            <a:r>
              <a:rPr sz="130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Outcome:</a:t>
            </a: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 Protect the base.</a:t>
            </a:r>
            <a:endParaRPr sz="1300"/>
          </a:p>
        </p:txBody>
      </p:sp>
      <p:pic>
        <p:nvPicPr>
          <p:cNvPr id="4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f2a13612d4d92">
            <a:extLst>
              <a:ext uri="{96DAC541-7B7A-43D3-8B79-37D633B846F1}">
                <asvg:svgBlip xmlns:asvg="http://schemas.microsoft.com/office/drawing/2016/SVG/main" r:embed="R484f820a08a141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3254077"/>
            <a:ext cx="170057" cy="170061"/>
          </a:xfrm>
          <a:prstGeom xmlns:a="http://schemas.openxmlformats.org/drawingml/2006/main" prst="rect">
            <a:avLst/>
          </a:prstGeom>
        </p:spPr>
      </p:pic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E5B65AB9-CB04-4193-A478-CCBD3BA9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490020"/>
            <a:ext cx="53577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CFF"/>
          </a:solidFill>
        </p:spPr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A4C952C6-A359-4CFC-B20B-4066FA28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630116"/>
            <a:ext cx="5357778" cy="276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50" b="1" spc="-33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Localise</a:t>
            </a:r>
            <a:endParaRPr sz="165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B2F0B095-199D-4B31-AF42-9764504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998218"/>
            <a:ext cx="5357778" cy="722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spcAft>
                <a:spcPts val="700"/>
              </a:spcAft>
              <a:buNone/>
            </a:pP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Fix conversion in Delhi, Chennai and Ahmedabad; replicate the Lucknow/Gurgaon playbook.</a:t>
            </a:r>
            <a:endParaRPr sz="1300"/>
          </a:p>
          <a:p xmlns:a="http://schemas.openxmlformats.org/drawingml/2006/main">
            <a:pPr marL="0" indent="0" algn="l">
              <a:lnSpc>
                <a:spcPct val="103000"/>
              </a:lnSpc>
              <a:buNone/>
            </a:pPr>
            <a:r>
              <a:rPr sz="130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Outcome:</a:t>
            </a: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 Recover cities.</a:t>
            </a:r>
            <a:endParaRPr sz="1300"/>
          </a:p>
        </p:txBody>
      </p:sp>
      <p:pic>
        <p:nvPicPr>
          <p:cNvPr id="5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f5428e46441a0">
            <a:extLst>
              <a:ext uri="{96DAC541-7B7A-43D3-8B79-37D633B846F1}">
                <asvg:svgBlip xmlns:asvg="http://schemas.microsoft.com/office/drawing/2016/SVG/main" r:embed="R31664b4d457d42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343" y="3254077"/>
            <a:ext cx="170057" cy="170061"/>
          </a:xfrm>
          <a:prstGeom xmlns:a="http://schemas.openxmlformats.org/drawingml/2006/main" prst="rect">
            <a:avLst/>
          </a:prstGeom>
        </p:spPr>
      </p:pic>
      <p:sp>
        <p:nvSpPr>
          <p:cNvPr id="20" name="Shape 13">
            <a:extLst xmlns:a="http://schemas.openxmlformats.org/drawingml/2006/main">
              <a:ext uri="{FF2B5EF4-FFF2-40B4-BE49-F238E27FC236}">
                <a16:creationId xmlns:a16="http://schemas.microsoft.com/office/drawing/2014/main" id="{8CA590C4-D40E-40B6-B2D1-FD3BE870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43" y="3506986"/>
            <a:ext cx="53578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CFF"/>
          </a:solidFill>
        </p:spPr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459F4B1C-0590-4CD6-9059-61715D32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43" y="3630116"/>
            <a:ext cx="5357877" cy="276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50" b="1" spc="-33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Measure</a:t>
            </a:r>
            <a:endParaRPr sz="165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1525B045-014F-400F-B36F-D3075EEB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43" y="3998218"/>
            <a:ext cx="5357877" cy="5120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spcAft>
                <a:spcPts val="700"/>
              </a:spcAft>
              <a:buNone/>
            </a:pP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Track ARPU, TAU and churn together — not revenue alone.</a:t>
            </a:r>
            <a:endParaRPr sz="1300"/>
          </a:p>
          <a:p xmlns:a="http://schemas.openxmlformats.org/drawingml/2006/main">
            <a:pPr marL="0" indent="0" algn="l">
              <a:lnSpc>
                <a:spcPct val="103000"/>
              </a:lnSpc>
              <a:buNone/>
            </a:pPr>
            <a:r>
              <a:rPr sz="130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Outcome:</a:t>
            </a: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 Avoid false wins.</a:t>
            </a:r>
            <a:endParaRPr sz="13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208D784A-5D6D-452C-8A1A-748C0D0B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0" y="5249763"/>
            <a:ext cx="10613660" cy="276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50" b="1" spc="-33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North Star</a:t>
            </a:r>
            <a:endParaRPr sz="1650"/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8D2054AB-723F-4DDB-997B-04788FAE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0" y="5755680"/>
            <a:ext cx="11223245" cy="2101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buNone/>
            </a:pPr>
            <a:r>
              <a:rPr sz="1300">
                <a:solidFill>
                  <a:srgbClr val="EBEDF0"/>
                </a:solidFill>
                <a:latin typeface="Geist"/>
                <a:ea typeface="Geist"/>
                <a:cs typeface="Geist"/>
              </a:rPr>
              <a:t>Grow revenue without sacrificing the active-user base.</a:t>
            </a:r>
            <a:endParaRPr sz="130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B85B6E71-8D24-4C16-BDFA-A5A6D973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986238"/>
            <a:ext cx="19050" cy="1117898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6296FF"/>
          </a:solidFill>
        </p:spPr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49B11637-CDF0-4DAC-8F33-EAE7152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" y="6457255"/>
            <a:ext cx="2874692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99235" rIns="59541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WAVECON • 5G BUSINESS IMPACT</a:t>
            </a:r>
            <a:endParaRPr sz="10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C1CB07EE-9ADC-4194-912D-EE62DE74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141" y="6457255"/>
            <a:ext cx="848299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59541" rIns="99235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618964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77B5EF-88D8-4FDB-8FBC-2EB9F91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734516"/>
            <a:ext cx="10868745" cy="614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700" b="1" spc="-74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Dashboard snapshot and source basis</a:t>
            </a:r>
            <a:endParaRPr sz="37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1308C7-03EC-4938-886E-2B5A0EC8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821259"/>
            <a:ext cx="4070744" cy="307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50" b="1" spc="-37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Data Basis</a:t>
            </a:r>
            <a:endParaRPr sz="1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054267B-E7E5-4768-8E83-6E0DC0E3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317353"/>
            <a:ext cx="4070744" cy="11527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Dashboard: Wavecon 5G impact analysis supplied with the task</a:t>
            </a:r>
            <a:endParaRPr sz="1450"/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Power BI report pages: Main KPI, Market and Plan</a:t>
            </a:r>
            <a:endParaRPr sz="14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0ED6DD-16DF-424C-93D0-42FEF2FB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729930"/>
            <a:ext cx="4070744" cy="2540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EBEDF0">
              <a:alpha val="50000"/>
            </a:srgbClr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40CCCBD-F0B5-4B91-8CF2-70465C6C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015184"/>
            <a:ext cx="4070744" cy="307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50" b="1" spc="-37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Decision Lens</a:t>
            </a:r>
            <a:endParaRPr sz="1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076EDA8-618B-4A5D-AF59-F90ED02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511278"/>
            <a:ext cx="4070744" cy="736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Monetisation improved, but retention weakened. Portfolio and migration strategy should address both.</a:t>
            </a:r>
            <a:endParaRPr sz="14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FA003F9-3FA1-4DEE-BD86-031F34C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460901"/>
            <a:ext cx="3788871" cy="287139"/>
          </a:xfrm>
          <a:prstGeom xmlns:a="http://schemas.openxmlformats.org/drawingml/2006/main" prst="roundRect">
            <a:avLst>
              <a:gd name="adj" fmla="val 22118"/>
            </a:avLst>
          </a:prstGeom>
          <a:solidFill xmlns:a="http://schemas.openxmlformats.org/drawingml/2006/main">
            <a:srgbClr val="00194D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3E3C00E-8B7D-400D-93BF-5334FA73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79" y="5517555"/>
            <a:ext cx="4171647" cy="173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150">
                <a:solidFill>
                  <a:srgbClr val="EBEDF0"/>
                </a:solidFill>
                <a:latin typeface="Geist"/>
                <a:ea typeface="Geist"/>
                <a:cs typeface="Geist"/>
              </a:rPr>
              <a:t>PREPARED FOR WAVECON MANAGEMENT REVIEW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9EB9C0E-960B-4657-B65E-302AA106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26" y="1821259"/>
            <a:ext cx="6336745" cy="307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50" b="1" spc="-37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Validated Insights</a:t>
            </a:r>
            <a:endParaRPr sz="1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0CC8C7D-F5EC-4DDF-B57A-8675B7C2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26" y="2340967"/>
            <a:ext cx="6336745" cy="3447058"/>
          </a:xfrm>
          <a:prstGeom xmlns:a="http://schemas.openxmlformats.org/drawingml/2006/main" prst="roundRect">
            <a:avLst>
              <a:gd name="adj" fmla="val 2303"/>
            </a:avLst>
          </a:prstGeom>
          <a:noFill xmlns:a="http://schemas.openxmlformats.org/drawingml/2006/main"/>
          <a:ln xmlns:a="http://schemas.openxmlformats.org/drawingml/2006/main"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E0FE85B-3318-4712-9B51-66DCBC1E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26" y="2835672"/>
            <a:ext cx="6336745" cy="11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357F7BF-128D-4D52-A58F-DDE9545F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26" y="3327202"/>
            <a:ext cx="6336745" cy="11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7CAB4B6-5A0F-4016-8EE8-17BB7D33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26" y="3818731"/>
            <a:ext cx="6336745" cy="11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AC5A86-DBBD-4D76-BA66-E9469545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26" y="4310261"/>
            <a:ext cx="6336745" cy="11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9A34880-30B3-498D-BF88-5ABE9993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26" y="4801791"/>
            <a:ext cx="6336745" cy="11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3609AEB-D5F5-4546-9821-3E263E30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26" y="5293320"/>
            <a:ext cx="6336745" cy="11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A7FFF23-366D-4D93-BDA0-6C3404EC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83" y="2467074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Metric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524655A-CBAB-4A5F-900C-D43574E1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105" y="2467074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 b="1">
                <a:solidFill>
                  <a:srgbClr val="EBEDF0"/>
                </a:solidFill>
                <a:latin typeface="Geist Bold"/>
                <a:ea typeface="Geist Bold"/>
                <a:cs typeface="Geist Bold"/>
              </a:rPr>
              <a:t>Result</a:t>
            </a:r>
            <a:endParaRPr sz="14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E4B36B0-20D3-4F12-AFE0-110A619B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83" y="2958604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Revenue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05CD66E-37DD-473A-99B6-5FD03B78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105" y="2958604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FAC496"/>
                </a:solidFill>
                <a:latin typeface="Geist"/>
                <a:ea typeface="Geist"/>
                <a:cs typeface="Geist"/>
              </a:rPr>
              <a:t>-0.50%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A48F9AA-85D9-410B-A220-A5479938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83" y="3450134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ARPU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2DCB4B4-E5FE-438F-9524-6BC5FF3B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105" y="3450134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9FEED9"/>
                </a:solidFill>
                <a:latin typeface="Geist"/>
                <a:ea typeface="Geist"/>
                <a:cs typeface="Geist"/>
              </a:rPr>
              <a:t>+11.05%</a:t>
            </a:r>
            <a:endParaRPr sz="14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0C0F02A-0E46-43F8-83F5-CBCDF2E2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83" y="3941663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Total Active Users (TAU)</a:t>
            </a:r>
            <a:endParaRPr sz="14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A1BC1CE-6D35-48FD-A4D3-C53F22DD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105" y="3941663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FAC496"/>
                </a:solidFill>
                <a:latin typeface="Geist"/>
                <a:ea typeface="Geist"/>
                <a:cs typeface="Geist"/>
              </a:rPr>
              <a:t>-8.28%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723113F-7D7F-4325-941E-C29BF5D1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83" y="4433193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Unsubscribes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614D83A-F1B1-47AF-B707-E384B850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105" y="4433193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C593DB"/>
                </a:solidFill>
                <a:latin typeface="Geist"/>
                <a:ea typeface="Geist"/>
                <a:cs typeface="Geist"/>
              </a:rPr>
              <a:t>+23.5%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B915FCF-D808-4B51-B19C-0C3BAE3E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83" y="4924723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P7 Revenue</a:t>
            </a:r>
            <a:endParaRPr sz="14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B97B0F2-382E-407F-9835-72E0673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105" y="4924723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FAC496"/>
                </a:solidFill>
                <a:latin typeface="Geist"/>
                <a:ea typeface="Geist"/>
                <a:cs typeface="Geist"/>
              </a:rPr>
              <a:t>-73.3%</a:t>
            </a:r>
            <a:endParaRPr sz="14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2265FC8-7AF5-4532-8DAC-7C225A0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83" y="5416252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P8–P10</a:t>
            </a:r>
            <a:endParaRPr sz="14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FD2154A-1CE4-4542-BB5E-2520C30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105" y="5416252"/>
            <a:ext cx="3393593" cy="24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50">
                <a:solidFill>
                  <a:srgbClr val="EBEDF0"/>
                </a:solidFill>
                <a:latin typeface="Geist"/>
                <a:ea typeface="Geist"/>
                <a:cs typeface="Geist"/>
              </a:rPr>
              <a:t>Discontinued</a:t>
            </a:r>
            <a:endParaRPr sz="14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B6FFE14-90CE-46CC-8C83-C82D7EBF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" y="6457255"/>
            <a:ext cx="2874692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99235" rIns="59541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WAVECON • 5G BUSINESS IMPACT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64B4ADB-5058-4E77-84B9-DFA1A46A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2629" y="6457255"/>
            <a:ext cx="846811" cy="15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59541" rIns="99235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EBEDF0"/>
                </a:solidFill>
                <a:latin typeface="Geist"/>
                <a:ea typeface="Geist"/>
                <a:cs typeface="Geist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876253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2026-08-25T04:40:15.0820000Z</dcterms:created>
  <dcterms:modified xsi:type="dcterms:W3CDTF">2026-08-25T04:40:15.0820000Z</dcterms:modified>
</coreProperties>
</file>